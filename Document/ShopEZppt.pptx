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7"/>
  </p:notesMasterIdLst>
  <p:sldIdLst>
    <p:sldId id="256" r:id="rId2"/>
    <p:sldId id="257" r:id="rId3"/>
    <p:sldId id="265" r:id="rId4"/>
    <p:sldId id="268" r:id="rId5"/>
    <p:sldId id="269" r:id="rId6"/>
    <p:sldId id="266" r:id="rId7"/>
    <p:sldId id="260" r:id="rId8"/>
    <p:sldId id="267" r:id="rId9"/>
    <p:sldId id="261" r:id="rId10"/>
    <p:sldId id="270" r:id="rId11"/>
    <p:sldId id="271" r:id="rId12"/>
    <p:sldId id="262" r:id="rId13"/>
    <p:sldId id="272" r:id="rId14"/>
    <p:sldId id="263" r:id="rId15"/>
    <p:sldId id="264" r:id="rId16"/>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la Gowthami" userId="473fa3bf63d1f9a0" providerId="LiveId" clId="{B6774DE8-0547-425F-AF80-90F6D1171CF6}"/>
    <pc:docChg chg="modSld">
      <pc:chgData name="Dola Gowthami" userId="473fa3bf63d1f9a0" providerId="LiveId" clId="{B6774DE8-0547-425F-AF80-90F6D1171CF6}" dt="2026-02-14T06:21:07.668" v="1" actId="20577"/>
      <pc:docMkLst>
        <pc:docMk/>
      </pc:docMkLst>
      <pc:sldChg chg="modSp mod">
        <pc:chgData name="Dola Gowthami" userId="473fa3bf63d1f9a0" providerId="LiveId" clId="{B6774DE8-0547-425F-AF80-90F6D1171CF6}" dt="2026-02-14T06:21:07.668" v="1" actId="20577"/>
        <pc:sldMkLst>
          <pc:docMk/>
          <pc:sldMk cId="0" sldId="257"/>
        </pc:sldMkLst>
        <pc:spChg chg="mod">
          <ac:chgData name="Dola Gowthami" userId="473fa3bf63d1f9a0" providerId="LiveId" clId="{B6774DE8-0547-425F-AF80-90F6D1171CF6}" dt="2026-02-14T06:21:07.668" v="1" actId="20577"/>
          <ac:spMkLst>
            <pc:docMk/>
            <pc:sldMk cId="0" sldId="257"/>
            <ac:spMk id="5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1"/>
            <a:ext cx="3076575" cy="512763"/>
          </a:xfrm>
          <a:prstGeom prst="rect">
            <a:avLst/>
          </a:prstGeom>
          <a:noFill/>
          <a:ln>
            <a:noFill/>
          </a:ln>
        </p:spPr>
        <p:txBody>
          <a:bodyPr spcFirstLastPara="1" wrap="square" lIns="91475" tIns="45725" rIns="91475" bIns="45725"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9" y="1"/>
            <a:ext cx="3076575" cy="512763"/>
          </a:xfrm>
          <a:prstGeom prst="rect">
            <a:avLst/>
          </a:prstGeom>
          <a:noFill/>
          <a:ln>
            <a:noFill/>
          </a:ln>
        </p:spPr>
        <p:txBody>
          <a:bodyPr spcFirstLastPara="1" wrap="square" lIns="91475" tIns="45725" rIns="91475" bIns="45725"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0600" y="766763"/>
            <a:ext cx="5118100"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6" name="Google Shape;6;n"/>
          <p:cNvSpPr txBox="1">
            <a:spLocks noGrp="1"/>
          </p:cNvSpPr>
          <p:nvPr>
            <p:ph type="body" idx="1"/>
          </p:nvPr>
        </p:nvSpPr>
        <p:spPr>
          <a:xfrm>
            <a:off x="709614" y="4862514"/>
            <a:ext cx="5680075" cy="4605337"/>
          </a:xfrm>
          <a:prstGeom prst="rect">
            <a:avLst/>
          </a:prstGeom>
          <a:noFill/>
          <a:ln>
            <a:noFill/>
          </a:ln>
        </p:spPr>
        <p:txBody>
          <a:bodyPr spcFirstLastPara="1" wrap="square" lIns="91475" tIns="45725" rIns="91475" bIns="457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720264"/>
            <a:ext cx="3076575" cy="512762"/>
          </a:xfrm>
          <a:prstGeom prst="rect">
            <a:avLst/>
          </a:prstGeom>
          <a:noFill/>
          <a:ln>
            <a:noFill/>
          </a:ln>
        </p:spPr>
        <p:txBody>
          <a:bodyPr spcFirstLastPara="1" wrap="square" lIns="91475" tIns="45725" rIns="91475" bIns="45725"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9" y="9720264"/>
            <a:ext cx="3076575" cy="512762"/>
          </a:xfrm>
          <a:prstGeom prst="rect">
            <a:avLst/>
          </a:prstGeom>
          <a:noFill/>
          <a:ln>
            <a:noFill/>
          </a:ln>
        </p:spPr>
        <p:txBody>
          <a:bodyPr spcFirstLastPara="1" wrap="square" lIns="91475" tIns="45725" rIns="91475" bIns="45725" anchor="b" anchorCtr="0">
            <a:noAutofit/>
          </a:bodyPr>
          <a:lstStyle/>
          <a:p>
            <a:pPr marL="0" marR="0" lvl="0" indent="0" algn="r" rtl="0">
              <a:spcBef>
                <a:spcPts val="0"/>
              </a:spcBef>
              <a:spcAft>
                <a:spcPts val="0"/>
              </a:spcAft>
              <a:buNone/>
            </a:pPr>
            <a:fld id="{00000000-1234-1234-1234-123412341234}" type="slidenum">
              <a:rPr lang="en-IN" sz="1100" b="0" i="0" u="none" strike="noStrike" cap="none">
                <a:solidFill>
                  <a:schemeClr val="dk1"/>
                </a:solidFill>
                <a:latin typeface="Calibri"/>
                <a:ea typeface="Calibri"/>
                <a:cs typeface="Calibri"/>
                <a:sym typeface="Calibri"/>
              </a:rPr>
              <a:t>‹#›</a:t>
            </a:fld>
            <a:endParaRPr sz="11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46" name="Google Shape;46;p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54" name="Google Shape;54;p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7a1c695adf_0_17: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2" name="Google Shape;72;g37a1c695adf_0_17:notes"/>
          <p:cNvSpPr txBox="1">
            <a:spLocks noGrp="1"/>
          </p:cNvSpPr>
          <p:nvPr>
            <p:ph type="body" idx="1"/>
          </p:nvPr>
        </p:nvSpPr>
        <p:spPr>
          <a:xfrm>
            <a:off x="709614" y="4862514"/>
            <a:ext cx="5680200" cy="4605300"/>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73" name="Google Shape;73;g37a1c695adf_0_17:notes"/>
          <p:cNvSpPr txBox="1">
            <a:spLocks noGrp="1"/>
          </p:cNvSpPr>
          <p:nvPr>
            <p:ph type="sldNum" idx="12"/>
          </p:nvPr>
        </p:nvSpPr>
        <p:spPr>
          <a:xfrm>
            <a:off x="4021139" y="9720264"/>
            <a:ext cx="3076500" cy="512700"/>
          </a:xfrm>
          <a:prstGeom prst="rect">
            <a:avLst/>
          </a:prstGeom>
        </p:spPr>
        <p:txBody>
          <a:bodyPr spcFirstLastPara="1" wrap="square" lIns="91475" tIns="45725" rIns="91475" bIns="45725"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7a1c695adf_0_3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9" name="Google Shape;79;g37a1c695adf_0_31:notes"/>
          <p:cNvSpPr txBox="1">
            <a:spLocks noGrp="1"/>
          </p:cNvSpPr>
          <p:nvPr>
            <p:ph type="body" idx="1"/>
          </p:nvPr>
        </p:nvSpPr>
        <p:spPr>
          <a:xfrm>
            <a:off x="709614" y="4862514"/>
            <a:ext cx="5680200" cy="4605300"/>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80" name="Google Shape;80;g37a1c695adf_0_31:notes"/>
          <p:cNvSpPr txBox="1">
            <a:spLocks noGrp="1"/>
          </p:cNvSpPr>
          <p:nvPr>
            <p:ph type="sldNum" idx="12"/>
          </p:nvPr>
        </p:nvSpPr>
        <p:spPr>
          <a:xfrm>
            <a:off x="4021139" y="9720264"/>
            <a:ext cx="3076500" cy="512700"/>
          </a:xfrm>
          <a:prstGeom prst="rect">
            <a:avLst/>
          </a:prstGeom>
        </p:spPr>
        <p:txBody>
          <a:bodyPr spcFirstLastPara="1" wrap="square" lIns="91475" tIns="45725" rIns="91475" bIns="45725"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7a1c695adf_0_2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6" name="Google Shape;86;g37a1c695adf_0_24:notes"/>
          <p:cNvSpPr txBox="1">
            <a:spLocks noGrp="1"/>
          </p:cNvSpPr>
          <p:nvPr>
            <p:ph type="body" idx="1"/>
          </p:nvPr>
        </p:nvSpPr>
        <p:spPr>
          <a:xfrm>
            <a:off x="709614" y="4862514"/>
            <a:ext cx="5680200" cy="4605300"/>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87" name="Google Shape;87;g37a1c695adf_0_24:notes"/>
          <p:cNvSpPr txBox="1">
            <a:spLocks noGrp="1"/>
          </p:cNvSpPr>
          <p:nvPr>
            <p:ph type="sldNum" idx="12"/>
          </p:nvPr>
        </p:nvSpPr>
        <p:spPr>
          <a:xfrm>
            <a:off x="4021139" y="9720264"/>
            <a:ext cx="3076500" cy="512700"/>
          </a:xfrm>
          <a:prstGeom prst="rect">
            <a:avLst/>
          </a:prstGeom>
        </p:spPr>
        <p:txBody>
          <a:bodyPr spcFirstLastPara="1" wrap="square" lIns="91475" tIns="45725" rIns="91475" bIns="45725"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7a1c695adf_0_11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3" name="Google Shape;93;g37a1c695adf_0_114:notes"/>
          <p:cNvSpPr txBox="1">
            <a:spLocks noGrp="1"/>
          </p:cNvSpPr>
          <p:nvPr>
            <p:ph type="body" idx="1"/>
          </p:nvPr>
        </p:nvSpPr>
        <p:spPr>
          <a:xfrm>
            <a:off x="709614" y="4862514"/>
            <a:ext cx="5680200" cy="4605300"/>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94" name="Google Shape;94;g37a1c695adf_0_114:notes"/>
          <p:cNvSpPr txBox="1">
            <a:spLocks noGrp="1"/>
          </p:cNvSpPr>
          <p:nvPr>
            <p:ph type="sldNum" idx="12"/>
          </p:nvPr>
        </p:nvSpPr>
        <p:spPr>
          <a:xfrm>
            <a:off x="4021139" y="9720264"/>
            <a:ext cx="3076500" cy="512700"/>
          </a:xfrm>
          <a:prstGeom prst="rect">
            <a:avLst/>
          </a:prstGeom>
        </p:spPr>
        <p:txBody>
          <a:bodyPr spcFirstLastPara="1" wrap="square" lIns="91475" tIns="45725" rIns="91475" bIns="45725"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7a1c695adf_0_47: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0" name="Google Shape;100;g37a1c695adf_0_47:notes"/>
          <p:cNvSpPr txBox="1">
            <a:spLocks noGrp="1"/>
          </p:cNvSpPr>
          <p:nvPr>
            <p:ph type="body" idx="1"/>
          </p:nvPr>
        </p:nvSpPr>
        <p:spPr>
          <a:xfrm>
            <a:off x="709614" y="4862514"/>
            <a:ext cx="5680200" cy="4605300"/>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01" name="Google Shape;101;g37a1c695adf_0_47:notes"/>
          <p:cNvSpPr txBox="1">
            <a:spLocks noGrp="1"/>
          </p:cNvSpPr>
          <p:nvPr>
            <p:ph type="sldNum" idx="12"/>
          </p:nvPr>
        </p:nvSpPr>
        <p:spPr>
          <a:xfrm>
            <a:off x="4021139" y="9720264"/>
            <a:ext cx="3076500" cy="512700"/>
          </a:xfrm>
          <a:prstGeom prst="rect">
            <a:avLst/>
          </a:prstGeom>
        </p:spPr>
        <p:txBody>
          <a:bodyPr spcFirstLastPara="1" wrap="square" lIns="91475" tIns="45725" rIns="91475" bIns="45725"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535940" y="480440"/>
            <a:ext cx="1069975" cy="482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000" b="1" i="0">
                <a:solidFill>
                  <a:srgbClr val="1F487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1636648" y="1350899"/>
            <a:ext cx="5448934" cy="308482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4400" b="1" i="0">
                <a:solidFill>
                  <a:srgbClr val="1F487C"/>
                </a:solidFill>
                <a:latin typeface="Cambria"/>
                <a:ea typeface="Cambria"/>
                <a:cs typeface="Cambria"/>
                <a:sym typeface="Cambri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3"/>
          <p:cNvSpPr txBox="1">
            <a:spLocks noGrp="1"/>
          </p:cNvSpPr>
          <p:nvPr>
            <p:ph type="ctrTitle"/>
          </p:nvPr>
        </p:nvSpPr>
        <p:spPr>
          <a:xfrm>
            <a:off x="685800" y="1594485"/>
            <a:ext cx="7772400" cy="108013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1371600" y="2880360"/>
            <a:ext cx="6400800" cy="12858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535940" y="480440"/>
            <a:ext cx="1069975" cy="482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000" b="1" i="0">
                <a:solidFill>
                  <a:srgbClr val="1F487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4"/>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535940" y="480440"/>
            <a:ext cx="1069975" cy="482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000" b="1" i="0">
                <a:solidFill>
                  <a:srgbClr val="1F487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
        <p:cNvGrpSpPr/>
        <p:nvPr/>
      </p:nvGrpSpPr>
      <p:grpSpPr>
        <a:xfrm>
          <a:off x="0" y="0"/>
          <a:ext cx="0" cy="0"/>
          <a:chOff x="0" y="0"/>
          <a:chExt cx="0" cy="0"/>
        </a:xfrm>
      </p:grpSpPr>
      <p:sp>
        <p:nvSpPr>
          <p:cNvPr id="41" name="Google Shape;41;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7">
            <a:alphaModFix/>
          </a:blip>
          <a:srcRect/>
          <a:stretch/>
        </p:blipFill>
        <p:spPr>
          <a:xfrm>
            <a:off x="0" y="0"/>
            <a:ext cx="9144000" cy="5143499"/>
          </a:xfrm>
          <a:prstGeom prst="rect">
            <a:avLst/>
          </a:prstGeom>
          <a:noFill/>
          <a:ln>
            <a:noFill/>
          </a:ln>
        </p:spPr>
      </p:pic>
      <p:sp>
        <p:nvSpPr>
          <p:cNvPr id="11" name="Google Shape;11;p1"/>
          <p:cNvSpPr txBox="1">
            <a:spLocks noGrp="1"/>
          </p:cNvSpPr>
          <p:nvPr>
            <p:ph type="title"/>
          </p:nvPr>
        </p:nvSpPr>
        <p:spPr>
          <a:xfrm>
            <a:off x="535940" y="480440"/>
            <a:ext cx="1069975" cy="4826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000" b="1" i="0" u="none" strike="noStrike" cap="none">
                <a:solidFill>
                  <a:srgbClr val="1F487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1636648" y="1350899"/>
            <a:ext cx="5448934" cy="3084829"/>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4400" b="1" i="0" u="none" strike="noStrike" cap="none">
                <a:solidFill>
                  <a:srgbClr val="1F487C"/>
                </a:solidFill>
                <a:latin typeface="Cambria"/>
                <a:ea typeface="Cambria"/>
                <a:cs typeface="Cambria"/>
                <a:sym typeface="Cambri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drive/folders/1F9Lq25kfEIhlfxAMnnvmPrjbf9WLA0IY" TargetMode="External"/><Relationship Id="rId2" Type="http://schemas.openxmlformats.org/officeDocument/2006/relationships/hyperlink" Target="https://github.com/MittanaBhagyalaxmi33/SHOPEZ-MERNSTACK-APPLICATION" TargetMode="External"/><Relationship Id="rId1" Type="http://schemas.openxmlformats.org/officeDocument/2006/relationships/slideLayout" Target="../slideLayouts/slideLayout1.xml"/><Relationship Id="rId4" Type="http://schemas.openxmlformats.org/officeDocument/2006/relationships/hyperlink" Target="https://drive.google.com/file/d/1ZWb4TaZFDomJcUiQheRItbjN6GStwrW6/view"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pic>
        <p:nvPicPr>
          <p:cNvPr id="48" name="Google Shape;48;p7"/>
          <p:cNvPicPr preferRelativeResize="0"/>
          <p:nvPr/>
        </p:nvPicPr>
        <p:blipFill rotWithShape="1">
          <a:blip r:embed="rId3">
            <a:alphaModFix/>
          </a:blip>
          <a:srcRect/>
          <a:stretch/>
        </p:blipFill>
        <p:spPr>
          <a:xfrm>
            <a:off x="24492" y="65313"/>
            <a:ext cx="9144000" cy="5143499"/>
          </a:xfrm>
          <a:prstGeom prst="rect">
            <a:avLst/>
          </a:prstGeom>
          <a:noFill/>
          <a:ln>
            <a:noFill/>
          </a:ln>
        </p:spPr>
      </p:pic>
      <p:sp>
        <p:nvSpPr>
          <p:cNvPr id="49" name="Google Shape;49;p7"/>
          <p:cNvSpPr txBox="1">
            <a:spLocks noGrp="1"/>
          </p:cNvSpPr>
          <p:nvPr>
            <p:ph type="body" idx="1"/>
          </p:nvPr>
        </p:nvSpPr>
        <p:spPr>
          <a:xfrm>
            <a:off x="677635" y="1285623"/>
            <a:ext cx="8001000" cy="1661684"/>
          </a:xfrm>
          <a:prstGeom prst="rect">
            <a:avLst/>
          </a:prstGeom>
          <a:noFill/>
          <a:ln>
            <a:noFill/>
          </a:ln>
        </p:spPr>
        <p:txBody>
          <a:bodyPr spcFirstLastPara="1" wrap="square" lIns="0" tIns="142950" rIns="0" bIns="0" anchor="t" anchorCtr="0">
            <a:spAutoFit/>
          </a:bodyPr>
          <a:lstStyle/>
          <a:p>
            <a:pPr marL="0" indent="0" algn="ctr">
              <a:lnSpc>
                <a:spcPct val="115000"/>
              </a:lnSpc>
              <a:spcBef>
                <a:spcPts val="2400"/>
              </a:spcBef>
              <a:spcAft>
                <a:spcPts val="600"/>
              </a:spcAft>
              <a:buClr>
                <a:schemeClr val="dk1"/>
              </a:buClr>
              <a:buSzPts val="1100"/>
            </a:pPr>
            <a:r>
              <a:rPr lang="en-IN" sz="3200" dirty="0">
                <a:solidFill>
                  <a:schemeClr val="tx1"/>
                </a:solidFill>
                <a:latin typeface="Times New Roman" panose="02020603050405020304" pitchFamily="18" charset="0"/>
                <a:cs typeface="Times New Roman" panose="02020603050405020304" pitchFamily="18" charset="0"/>
              </a:rPr>
              <a:t>SHOPEZ – MERN Stack E-Commerce Application</a:t>
            </a:r>
            <a:endParaRPr lang="en-US" sz="32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2743200" y="514350"/>
            <a:ext cx="2438400" cy="351378"/>
          </a:xfrm>
          <a:prstGeom prst="rect">
            <a:avLst/>
          </a:prstGeom>
          <a:noFill/>
          <a:ln>
            <a:noFill/>
          </a:ln>
        </p:spPr>
        <p:txBody>
          <a:bodyPr spcFirstLastPara="1" wrap="square" lIns="0" tIns="12700" rIns="0" bIns="0" anchor="t" anchorCtr="0">
            <a:spAutoFit/>
          </a:bodyPr>
          <a:lstStyle/>
          <a:p>
            <a:pPr marL="0" lvl="0" indent="0" algn="ctr" rtl="0">
              <a:spcBef>
                <a:spcPts val="0"/>
              </a:spcBef>
              <a:spcAft>
                <a:spcPts val="0"/>
              </a:spcAft>
              <a:buNone/>
            </a:pPr>
            <a:r>
              <a:rPr lang="en-IN" sz="2200" dirty="0">
                <a:solidFill>
                  <a:schemeClr val="tx1"/>
                </a:solidFill>
                <a:latin typeface="Times New Roman"/>
                <a:ea typeface="Times New Roman"/>
                <a:cs typeface="Times New Roman"/>
                <a:sym typeface="Times New Roman"/>
              </a:rPr>
              <a:t>Contents</a:t>
            </a:r>
          </a:p>
        </p:txBody>
      </p:sp>
      <p:sp>
        <p:nvSpPr>
          <p:cNvPr id="57" name="Google Shape;57;p8"/>
          <p:cNvSpPr txBox="1">
            <a:spLocks noGrp="1"/>
          </p:cNvSpPr>
          <p:nvPr>
            <p:ph type="body" idx="1"/>
          </p:nvPr>
        </p:nvSpPr>
        <p:spPr>
          <a:xfrm>
            <a:off x="734787" y="931362"/>
            <a:ext cx="4065814" cy="3370153"/>
          </a:xfrm>
          <a:prstGeom prst="rect">
            <a:avLst/>
          </a:prstGeom>
          <a:noFill/>
          <a:ln>
            <a:noFill/>
          </a:ln>
        </p:spPr>
        <p:txBody>
          <a:bodyPr spcFirstLastPara="1" wrap="square" lIns="0" tIns="0" rIns="0" bIns="0" anchor="t" anchorCtr="0">
            <a:spAutoFit/>
          </a:bodyPr>
          <a:lstStyle/>
          <a:p>
            <a:pPr marL="0" indent="-114300">
              <a:lnSpc>
                <a:spcPct val="150000"/>
              </a:lnSpc>
              <a:buClr>
                <a:schemeClr val="dk1"/>
              </a:buClr>
              <a:buSzPts val="1800"/>
              <a:buFont typeface="Times New Roman"/>
              <a:buChar char="❑"/>
            </a:pPr>
            <a:r>
              <a:rPr lang="en-IN" sz="1800" b="0" dirty="0">
                <a:solidFill>
                  <a:schemeClr val="dk1"/>
                </a:solidFill>
                <a:latin typeface="Times New Roman"/>
                <a:ea typeface="Times New Roman"/>
                <a:cs typeface="Times New Roman"/>
                <a:sym typeface="Times New Roman"/>
              </a:rPr>
              <a:t>  </a:t>
            </a:r>
            <a:r>
              <a:rPr lang="en-IN" sz="1600" b="0" dirty="0">
                <a:solidFill>
                  <a:schemeClr val="dk1"/>
                </a:solidFill>
                <a:latin typeface="Times New Roman"/>
                <a:ea typeface="Times New Roman"/>
                <a:cs typeface="Times New Roman"/>
                <a:sym typeface="Times New Roman"/>
              </a:rPr>
              <a:t>Introduction</a:t>
            </a:r>
          </a:p>
          <a:p>
            <a:pPr marL="0" lvl="0" indent="-114300" algn="l" rtl="0">
              <a:lnSpc>
                <a:spcPct val="150000"/>
              </a:lnSpc>
              <a:spcBef>
                <a:spcPts val="0"/>
              </a:spcBef>
              <a:spcAft>
                <a:spcPts val="0"/>
              </a:spcAft>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Objectives</a:t>
            </a:r>
          </a:p>
          <a:p>
            <a:pPr marL="0" lvl="0" indent="-114300" algn="l" rtl="0">
              <a:lnSpc>
                <a:spcPct val="150000"/>
              </a:lnSpc>
              <a:spcBef>
                <a:spcPts val="0"/>
              </a:spcBef>
              <a:spcAft>
                <a:spcPts val="0"/>
              </a:spcAft>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Technologies Used</a:t>
            </a:r>
          </a:p>
          <a:p>
            <a:pPr marL="0" lvl="0" indent="-114300">
              <a:lnSpc>
                <a:spcPct val="150000"/>
              </a:lnSpc>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System Architecture</a:t>
            </a:r>
          </a:p>
          <a:p>
            <a:pPr marL="0" lvl="0" indent="-114300">
              <a:lnSpc>
                <a:spcPct val="150000"/>
              </a:lnSpc>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Database Design</a:t>
            </a:r>
          </a:p>
          <a:p>
            <a:pPr marL="0" lvl="0" indent="-114300">
              <a:lnSpc>
                <a:spcPct val="150000"/>
              </a:lnSpc>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Key Features</a:t>
            </a:r>
          </a:p>
          <a:p>
            <a:pPr marL="0" lvl="0" indent="-114300" algn="l" rtl="0">
              <a:lnSpc>
                <a:spcPct val="150000"/>
              </a:lnSpc>
              <a:spcBef>
                <a:spcPts val="0"/>
              </a:spcBef>
              <a:spcAft>
                <a:spcPts val="0"/>
              </a:spcAft>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Application Flow  </a:t>
            </a:r>
          </a:p>
          <a:p>
            <a:pPr marL="0" lvl="0" indent="-114300" algn="l" rtl="0">
              <a:lnSpc>
                <a:spcPct val="150000"/>
              </a:lnSpc>
              <a:spcBef>
                <a:spcPts val="0"/>
              </a:spcBef>
              <a:spcAft>
                <a:spcPts val="0"/>
              </a:spcAft>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Implementation</a:t>
            </a:r>
          </a:p>
          <a:p>
            <a:pPr marL="0" lvl="0" indent="-114300" algn="l" rtl="0">
              <a:lnSpc>
                <a:spcPct val="150000"/>
              </a:lnSpc>
              <a:spcBef>
                <a:spcPts val="0"/>
              </a:spcBef>
              <a:spcAft>
                <a:spcPts val="0"/>
              </a:spcAft>
              <a:buClr>
                <a:schemeClr val="dk1"/>
              </a:buClr>
              <a:buSzPts val="1800"/>
              <a:buFont typeface="Times New Roman"/>
              <a:buChar char="❑"/>
            </a:pPr>
            <a:r>
              <a:rPr lang="en-IN" sz="1600" b="0" dirty="0">
                <a:solidFill>
                  <a:schemeClr val="dk1"/>
                </a:solidFill>
                <a:latin typeface="Times New Roman"/>
                <a:ea typeface="Times New Roman"/>
                <a:cs typeface="Times New Roman"/>
                <a:sym typeface="Times New Roman"/>
              </a:rPr>
              <a:t>  Conclusion &amp; Future Work</a:t>
            </a:r>
            <a:endParaRPr sz="1800" b="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C88FECE-3770-D610-BEF2-D21122173BB2}"/>
              </a:ext>
            </a:extLst>
          </p:cNvPr>
          <p:cNvSpPr>
            <a:spLocks noGrp="1" noChangeArrowheads="1"/>
          </p:cNvSpPr>
          <p:nvPr>
            <p:ph type="title"/>
          </p:nvPr>
        </p:nvSpPr>
        <p:spPr bwMode="auto">
          <a:xfrm>
            <a:off x="693965" y="681096"/>
            <a:ext cx="15792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861BFBB-87AC-8819-E070-548C0AC152E8}"/>
              </a:ext>
            </a:extLst>
          </p:cNvPr>
          <p:cNvSpPr txBox="1"/>
          <p:nvPr/>
        </p:nvSpPr>
        <p:spPr>
          <a:xfrm>
            <a:off x="693965" y="1081206"/>
            <a:ext cx="7021285" cy="374140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ShopEZ</a:t>
            </a:r>
            <a:r>
              <a:rPr lang="en-US" sz="1600" dirty="0">
                <a:latin typeface="Times New Roman" panose="02020603050405020304" pitchFamily="18" charset="0"/>
                <a:cs typeface="Times New Roman" panose="02020603050405020304" pitchFamily="18" charset="0"/>
              </a:rPr>
              <a:t> is designed to provide a smooth and user-friendly online shopping experience. </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application allows users to create accounts, log in securely, browse available products, and place orders. </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also includes an admin panel for managing products and monitoring orders. </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follows a client-server architecture where the frontend interacts with the backend through REST APIs.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main goal of this project is to build a scalable and efficient e-commerce platform using modern web technologies.</a:t>
            </a: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851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17915-A3E2-3CF2-1A3F-A8F48F16C2A2}"/>
              </a:ext>
            </a:extLst>
          </p:cNvPr>
          <p:cNvSpPr>
            <a:spLocks noGrp="1"/>
          </p:cNvSpPr>
          <p:nvPr>
            <p:ph type="title"/>
          </p:nvPr>
        </p:nvSpPr>
        <p:spPr>
          <a:xfrm>
            <a:off x="685800" y="592060"/>
            <a:ext cx="2697117" cy="307777"/>
          </a:xfrm>
        </p:spPr>
        <p:txBody>
          <a:bodyPr/>
          <a:lstStyle/>
          <a:p>
            <a:r>
              <a:rPr lang="en-IN" sz="2000" dirty="0">
                <a:solidFill>
                  <a:schemeClr val="tx1"/>
                </a:solidFill>
                <a:latin typeface="Times New Roman" panose="02020603050405020304" pitchFamily="18" charset="0"/>
                <a:cs typeface="Times New Roman" panose="02020603050405020304" pitchFamily="18" charset="0"/>
              </a:rPr>
              <a:t>Objective of the Project</a:t>
            </a:r>
          </a:p>
        </p:txBody>
      </p:sp>
      <p:sp>
        <p:nvSpPr>
          <p:cNvPr id="4" name="TextBox 3">
            <a:extLst>
              <a:ext uri="{FF2B5EF4-FFF2-40B4-BE49-F238E27FC236}">
                <a16:creationId xmlns:a16="http://schemas.microsoft.com/office/drawing/2014/main" id="{A665E27D-70B5-BAE0-D659-6CDCE17162DA}"/>
              </a:ext>
            </a:extLst>
          </p:cNvPr>
          <p:cNvSpPr txBox="1"/>
          <p:nvPr/>
        </p:nvSpPr>
        <p:spPr>
          <a:xfrm>
            <a:off x="685800" y="1014137"/>
            <a:ext cx="6809015" cy="2264081"/>
          </a:xfrm>
          <a:prstGeom prst="rect">
            <a:avLst/>
          </a:prstGeom>
          <a:noFill/>
        </p:spPr>
        <p:txBody>
          <a:bodyPr wrap="square">
            <a:spAutoFit/>
          </a:bodyPr>
          <a:lstStyle/>
          <a:p>
            <a:pPr algn="just">
              <a:lnSpc>
                <a:spcPct val="150000"/>
              </a:lnSpc>
              <a:buNone/>
            </a:pPr>
            <a:r>
              <a:rPr lang="en-US" sz="1600" dirty="0">
                <a:latin typeface="Times New Roman" panose="02020603050405020304" pitchFamily="18" charset="0"/>
                <a:cs typeface="Times New Roman" panose="02020603050405020304" pitchFamily="18" charset="0"/>
              </a:rPr>
              <a:t>The primary objective of </a:t>
            </a:r>
            <a:r>
              <a:rPr lang="en-US" sz="1600" dirty="0" err="1">
                <a:latin typeface="Times New Roman" panose="02020603050405020304" pitchFamily="18" charset="0"/>
                <a:cs typeface="Times New Roman" panose="02020603050405020304" pitchFamily="18" charset="0"/>
              </a:rPr>
              <a:t>ShopEZ</a:t>
            </a:r>
            <a:r>
              <a:rPr lang="en-US" sz="1600" dirty="0">
                <a:latin typeface="Times New Roman" panose="02020603050405020304" pitchFamily="18" charset="0"/>
                <a:cs typeface="Times New Roman" panose="02020603050405020304" pitchFamily="18" charset="0"/>
              </a:rPr>
              <a:t> is to develop a complete e-commerce web application using the MERN stack. The project focuses on implementing secure authentication, efficient database management, and proper communication between frontend and backend. It aims to provide users with an easy way to discover products, manage their cart, and complete purchases. At the same time, it provides administrators with tools to manage products and track orders.</a:t>
            </a:r>
          </a:p>
        </p:txBody>
      </p:sp>
    </p:spTree>
    <p:extLst>
      <p:ext uri="{BB962C8B-B14F-4D97-AF65-F5344CB8AC3E}">
        <p14:creationId xmlns:p14="http://schemas.microsoft.com/office/powerpoint/2010/main" val="653275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18C3A-9718-46AF-0AFB-D6CCC0161342}"/>
              </a:ext>
            </a:extLst>
          </p:cNvPr>
          <p:cNvSpPr>
            <a:spLocks noGrp="1"/>
          </p:cNvSpPr>
          <p:nvPr>
            <p:ph type="title"/>
          </p:nvPr>
        </p:nvSpPr>
        <p:spPr>
          <a:xfrm>
            <a:off x="806813" y="708116"/>
            <a:ext cx="6664960" cy="307777"/>
          </a:xfrm>
        </p:spPr>
        <p:txBody>
          <a:bodyPr/>
          <a:lstStyle/>
          <a:p>
            <a:r>
              <a:rPr lang="en-IN" sz="2000" dirty="0">
                <a:solidFill>
                  <a:schemeClr val="tx1"/>
                </a:solidFill>
                <a:latin typeface="Times New Roman" panose="02020603050405020304" pitchFamily="18" charset="0"/>
                <a:cs typeface="Times New Roman" panose="02020603050405020304" pitchFamily="18" charset="0"/>
              </a:rPr>
              <a:t>Technologies Used</a:t>
            </a:r>
          </a:p>
        </p:txBody>
      </p:sp>
      <p:sp>
        <p:nvSpPr>
          <p:cNvPr id="4" name="TextBox 3">
            <a:extLst>
              <a:ext uri="{FF2B5EF4-FFF2-40B4-BE49-F238E27FC236}">
                <a16:creationId xmlns:a16="http://schemas.microsoft.com/office/drawing/2014/main" id="{0B5F56D7-83AA-C772-9E86-B922CEB405D7}"/>
              </a:ext>
            </a:extLst>
          </p:cNvPr>
          <p:cNvSpPr txBox="1"/>
          <p:nvPr/>
        </p:nvSpPr>
        <p:spPr>
          <a:xfrm>
            <a:off x="718458" y="1015893"/>
            <a:ext cx="6841671" cy="3331489"/>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project is built using the MERN stack. React.js is used for building the user interface because it allows reusable components and dynamic rendering. Node.js provides the runtime environment for executing JavaScript on the server side. Express.js is used to create REST APIs and handle routing. MongoDB is used as the database to store user details, products, cart items, and order information. Mongoose is used to define schemas and interact with MongoDB efficiently.</a:t>
            </a:r>
          </a:p>
          <a:p>
            <a:pPr algn="just">
              <a:lnSpc>
                <a:spcPct val="150000"/>
              </a:lnSpc>
            </a:pPr>
            <a:r>
              <a:rPr lang="en-US" sz="1600" dirty="0">
                <a:latin typeface="Times New Roman" panose="02020603050405020304" pitchFamily="18" charset="0"/>
                <a:cs typeface="Times New Roman" panose="02020603050405020304" pitchFamily="18" charset="0"/>
              </a:rPr>
              <a:t>Additional tools such as Git and GitHub are used for version control, and Visual Studio Code is used as the development environment.</a:t>
            </a:r>
          </a:p>
          <a:p>
            <a:pPr>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549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CAC4C-6C2E-95E5-27D4-235242DEAD6C}"/>
              </a:ext>
            </a:extLst>
          </p:cNvPr>
          <p:cNvSpPr>
            <a:spLocks noGrp="1"/>
          </p:cNvSpPr>
          <p:nvPr>
            <p:ph type="title"/>
          </p:nvPr>
        </p:nvSpPr>
        <p:spPr>
          <a:xfrm>
            <a:off x="636814" y="574065"/>
            <a:ext cx="2408465" cy="307777"/>
          </a:xfrm>
        </p:spPr>
        <p:txBody>
          <a:bodyPr/>
          <a:lstStyle/>
          <a:p>
            <a:r>
              <a:rPr lang="en-IN" sz="2000" dirty="0">
                <a:solidFill>
                  <a:schemeClr val="tx1"/>
                </a:solidFill>
                <a:latin typeface="Times New Roman" panose="02020603050405020304" pitchFamily="18" charset="0"/>
                <a:cs typeface="Times New Roman" panose="02020603050405020304" pitchFamily="18" charset="0"/>
              </a:rPr>
              <a:t>System Architecture</a:t>
            </a:r>
          </a:p>
        </p:txBody>
      </p:sp>
      <p:sp>
        <p:nvSpPr>
          <p:cNvPr id="11" name="TextBox 10">
            <a:extLst>
              <a:ext uri="{FF2B5EF4-FFF2-40B4-BE49-F238E27FC236}">
                <a16:creationId xmlns:a16="http://schemas.microsoft.com/office/drawing/2014/main" id="{968641FB-9FEE-81B5-8310-961A5BBB4715}"/>
              </a:ext>
            </a:extLst>
          </p:cNvPr>
          <p:cNvSpPr txBox="1"/>
          <p:nvPr/>
        </p:nvSpPr>
        <p:spPr>
          <a:xfrm>
            <a:off x="873579" y="1011843"/>
            <a:ext cx="6645727" cy="3372077"/>
          </a:xfrm>
          <a:prstGeom prst="rect">
            <a:avLst/>
          </a:prstGeom>
          <a:noFill/>
        </p:spPr>
        <p:txBody>
          <a:bodyPr wrap="square">
            <a:spAutoFit/>
          </a:bodyPr>
          <a:lstStyle/>
          <a:p>
            <a:pPr algn="just">
              <a:lnSpc>
                <a:spcPct val="150000"/>
              </a:lnSpc>
            </a:pPr>
            <a:r>
              <a:rPr lang="en-US" sz="1600" dirty="0" err="1">
                <a:latin typeface="Times New Roman" panose="02020603050405020304" pitchFamily="18" charset="0"/>
                <a:cs typeface="Times New Roman" panose="02020603050405020304" pitchFamily="18" charset="0"/>
              </a:rPr>
              <a:t>ShopEZ</a:t>
            </a:r>
            <a:r>
              <a:rPr lang="en-US" sz="1600" dirty="0">
                <a:latin typeface="Times New Roman" panose="02020603050405020304" pitchFamily="18" charset="0"/>
                <a:cs typeface="Times New Roman" panose="02020603050405020304" pitchFamily="18" charset="0"/>
              </a:rPr>
              <a:t> follows a three-layer architecture: frontend, backend, and database layer. The frontend is developed using React and handles all user interactions. When a user performs an action such as login or placing an order, the frontend sends a request to the backend server. The backend, built using Express and Node.js, processes the request and interacts with the MongoDB database. After processing, the backend sends a response back to the frontend.</a:t>
            </a:r>
          </a:p>
          <a:p>
            <a:pPr algn="just">
              <a:lnSpc>
                <a:spcPct val="150000"/>
              </a:lnSpc>
            </a:pPr>
            <a:r>
              <a:rPr lang="en-US" sz="1600" dirty="0">
                <a:latin typeface="Times New Roman" panose="02020603050405020304" pitchFamily="18" charset="0"/>
                <a:cs typeface="Times New Roman" panose="02020603050405020304" pitchFamily="18" charset="0"/>
              </a:rPr>
              <a:t>This separation of layers ensures better maintainability, scalability, and security.</a:t>
            </a:r>
          </a:p>
          <a:p>
            <a:pPr algn="just">
              <a:lnSpc>
                <a:spcPct val="150000"/>
              </a:lnSpc>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76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722539" y="801094"/>
            <a:ext cx="5512200" cy="307777"/>
          </a:xfrm>
          <a:prstGeom prst="rect">
            <a:avLst/>
          </a:prstGeom>
        </p:spPr>
        <p:txBody>
          <a:bodyPr spcFirstLastPara="1" wrap="square" lIns="0" tIns="0" rIns="0" bIns="0" anchor="t" anchorCtr="0">
            <a:spAutoFit/>
          </a:bodyPr>
          <a:lstStyle/>
          <a:p>
            <a:pPr lvl="0"/>
            <a:r>
              <a:rPr lang="en-IN" sz="2000" dirty="0">
                <a:solidFill>
                  <a:schemeClr val="tx1"/>
                </a:solidFill>
                <a:latin typeface="Times New Roman" panose="02020603050405020304" pitchFamily="18" charset="0"/>
                <a:cs typeface="Times New Roman" panose="02020603050405020304" pitchFamily="18" charset="0"/>
              </a:rPr>
              <a:t>Database Design</a:t>
            </a:r>
            <a:endParaRPr sz="20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052849-672D-E3F5-C156-E2DD0ADD88A3}"/>
              </a:ext>
            </a:extLst>
          </p:cNvPr>
          <p:cNvSpPr txBox="1"/>
          <p:nvPr/>
        </p:nvSpPr>
        <p:spPr>
          <a:xfrm>
            <a:off x="608239" y="1108871"/>
            <a:ext cx="6731454" cy="3741409"/>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database consists of multiple collections such as Users, Products, Cart, Orders, and Admin. The Users collection stores user information like name, email, and password. The Products collection stores product details including name, price, description, and category. The Cart collection temporarily stores products added by users before purchase. The Orders collection stores confirmed purchase details, including shipping address and payment information.</a:t>
            </a:r>
          </a:p>
          <a:p>
            <a:pPr algn="just">
              <a:lnSpc>
                <a:spcPct val="150000"/>
              </a:lnSpc>
            </a:pPr>
            <a:r>
              <a:rPr lang="en-US" sz="1600" dirty="0">
                <a:latin typeface="Times New Roman" panose="02020603050405020304" pitchFamily="18" charset="0"/>
                <a:cs typeface="Times New Roman" panose="02020603050405020304" pitchFamily="18" charset="0"/>
              </a:rPr>
              <a:t>Each order is linked to a specific user using a </a:t>
            </a:r>
            <a:r>
              <a:rPr lang="en-US" sz="1600" dirty="0" err="1">
                <a:latin typeface="Times New Roman" panose="02020603050405020304" pitchFamily="18" charset="0"/>
                <a:cs typeface="Times New Roman" panose="02020603050405020304" pitchFamily="18" charset="0"/>
              </a:rPr>
              <a:t>userId</a:t>
            </a:r>
            <a:r>
              <a:rPr lang="en-US" sz="1600" dirty="0">
                <a:latin typeface="Times New Roman" panose="02020603050405020304" pitchFamily="18" charset="0"/>
                <a:cs typeface="Times New Roman" panose="02020603050405020304" pitchFamily="18" charset="0"/>
              </a:rPr>
              <a:t> reference, which maintains relational integrity within the NoSQL database.</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6091C-6EE8-971E-F641-C6982BD67EC8}"/>
              </a:ext>
            </a:extLst>
          </p:cNvPr>
          <p:cNvSpPr>
            <a:spLocks noGrp="1"/>
          </p:cNvSpPr>
          <p:nvPr>
            <p:ph type="title"/>
          </p:nvPr>
        </p:nvSpPr>
        <p:spPr>
          <a:xfrm>
            <a:off x="927826" y="559338"/>
            <a:ext cx="6452688" cy="307777"/>
          </a:xfrm>
        </p:spPr>
        <p:txBody>
          <a:bodyPr/>
          <a:lstStyle/>
          <a:p>
            <a:r>
              <a:rPr lang="en-IN" sz="2000" dirty="0">
                <a:solidFill>
                  <a:schemeClr val="tx1"/>
                </a:solidFill>
                <a:latin typeface="Times New Roman" panose="02020603050405020304" pitchFamily="18" charset="0"/>
                <a:cs typeface="Times New Roman" panose="02020603050405020304" pitchFamily="18" charset="0"/>
              </a:rPr>
              <a:t>Key Features</a:t>
            </a:r>
          </a:p>
        </p:txBody>
      </p:sp>
      <p:sp>
        <p:nvSpPr>
          <p:cNvPr id="20" name="TextBox 19">
            <a:extLst>
              <a:ext uri="{FF2B5EF4-FFF2-40B4-BE49-F238E27FC236}">
                <a16:creationId xmlns:a16="http://schemas.microsoft.com/office/drawing/2014/main" id="{FB3BCC43-AC4E-2430-3C2F-03C530D88D3E}"/>
              </a:ext>
            </a:extLst>
          </p:cNvPr>
          <p:cNvSpPr txBox="1"/>
          <p:nvPr/>
        </p:nvSpPr>
        <p:spPr>
          <a:xfrm>
            <a:off x="927826" y="924266"/>
            <a:ext cx="6452688" cy="3002745"/>
          </a:xfrm>
          <a:prstGeom prst="rect">
            <a:avLst/>
          </a:prstGeom>
          <a:noFill/>
        </p:spPr>
        <p:txBody>
          <a:bodyPr wrap="square">
            <a:spAutoFit/>
          </a:bodyPr>
          <a:lstStyle/>
          <a:p>
            <a:pPr algn="just">
              <a:lnSpc>
                <a:spcPct val="150000"/>
              </a:lnSpc>
              <a:buNone/>
            </a:pPr>
            <a:r>
              <a:rPr lang="en-US" sz="1600" dirty="0" err="1">
                <a:latin typeface="Times New Roman" panose="02020603050405020304" pitchFamily="18" charset="0"/>
                <a:cs typeface="Times New Roman" panose="02020603050405020304" pitchFamily="18" charset="0"/>
              </a:rPr>
              <a:t>ShopEZ</a:t>
            </a:r>
            <a:r>
              <a:rPr lang="en-US" sz="1600" dirty="0">
                <a:latin typeface="Times New Roman" panose="02020603050405020304" pitchFamily="18" charset="0"/>
                <a:cs typeface="Times New Roman" panose="02020603050405020304" pitchFamily="18" charset="0"/>
              </a:rPr>
              <a:t> provides several important features that make it a complete e-commerce system. Users can register and log in securely using authentication mechanisms. They can browse products, filter them based on categories, and add items to their cart. The application allows users to enter shipping details and payment methods before placing an order.</a:t>
            </a:r>
          </a:p>
          <a:p>
            <a:pPr algn="just">
              <a:lnSpc>
                <a:spcPct val="150000"/>
              </a:lnSpc>
              <a:buNone/>
            </a:pPr>
            <a:r>
              <a:rPr lang="en-US" sz="1600" dirty="0">
                <a:latin typeface="Times New Roman" panose="02020603050405020304" pitchFamily="18" charset="0"/>
                <a:cs typeface="Times New Roman" panose="02020603050405020304" pitchFamily="18" charset="0"/>
              </a:rPr>
              <a:t>On the admin side, the dashboard enables administrators to add new products, manage existing products, and view all orders placed by users. This ensures smooth management of the platform.</a:t>
            </a:r>
          </a:p>
        </p:txBody>
      </p:sp>
    </p:spTree>
    <p:extLst>
      <p:ext uri="{BB962C8B-B14F-4D97-AF65-F5344CB8AC3E}">
        <p14:creationId xmlns:p14="http://schemas.microsoft.com/office/powerpoint/2010/main" val="11867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691113" y="691668"/>
            <a:ext cx="5316600" cy="461665"/>
          </a:xfrm>
          <a:prstGeom prst="rect">
            <a:avLst/>
          </a:prstGeom>
        </p:spPr>
        <p:txBody>
          <a:bodyPr spcFirstLastPara="1" wrap="square" lIns="0" tIns="0" rIns="0" bIns="0" anchor="t" anchorCtr="0">
            <a:spAutoFit/>
          </a:bodyPr>
          <a:lstStyle/>
          <a:p>
            <a:pPr lvl="0">
              <a:lnSpc>
                <a:spcPct val="150000"/>
              </a:lnSpc>
            </a:pPr>
            <a:r>
              <a:rPr lang="en-IN" sz="2000" dirty="0">
                <a:solidFill>
                  <a:schemeClr val="tx1"/>
                </a:solidFill>
                <a:latin typeface="Times New Roman" panose="02020603050405020304" pitchFamily="18" charset="0"/>
                <a:cs typeface="Times New Roman" panose="02020603050405020304" pitchFamily="18" charset="0"/>
              </a:rPr>
              <a:t>Application Flow</a:t>
            </a:r>
            <a:endParaRPr sz="20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9" name="TextBox 8">
            <a:extLst>
              <a:ext uri="{FF2B5EF4-FFF2-40B4-BE49-F238E27FC236}">
                <a16:creationId xmlns:a16="http://schemas.microsoft.com/office/drawing/2014/main" id="{0F405EC7-7692-0089-DFFF-B2DC53A6D429}"/>
              </a:ext>
            </a:extLst>
          </p:cNvPr>
          <p:cNvSpPr txBox="1"/>
          <p:nvPr/>
        </p:nvSpPr>
        <p:spPr>
          <a:xfrm>
            <a:off x="691114" y="1071690"/>
            <a:ext cx="6779208" cy="3002745"/>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application starts with user registration and login. After successful authentication, the user is redirected to the home page where all available products are displayed. Users can select products and either add them to the cart or directly buy them. During checkout, users provide shipping address and payment details. Once the order is placed, the information is stored in the Orders collection.</a:t>
            </a:r>
          </a:p>
          <a:p>
            <a:pPr algn="just">
              <a:lnSpc>
                <a:spcPct val="150000"/>
              </a:lnSpc>
            </a:pPr>
            <a:r>
              <a:rPr lang="en-US" sz="1600" dirty="0">
                <a:latin typeface="Times New Roman" panose="02020603050405020304" pitchFamily="18" charset="0"/>
                <a:cs typeface="Times New Roman" panose="02020603050405020304" pitchFamily="18" charset="0"/>
              </a:rPr>
              <a:t>For the admin, the flow begins with admin login. After logging in, the admin can manage product listings and monitor orders through the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9FAB8-7C3E-35A3-6010-1069CCB1760C}"/>
              </a:ext>
            </a:extLst>
          </p:cNvPr>
          <p:cNvSpPr>
            <a:spLocks noGrp="1"/>
          </p:cNvSpPr>
          <p:nvPr>
            <p:ph type="title"/>
          </p:nvPr>
        </p:nvSpPr>
        <p:spPr>
          <a:xfrm>
            <a:off x="857251" y="735167"/>
            <a:ext cx="2403203" cy="307777"/>
          </a:xfrm>
        </p:spPr>
        <p:txBody>
          <a:bodyPr/>
          <a:lstStyle/>
          <a:p>
            <a:r>
              <a:rPr lang="en-IN" sz="2000" dirty="0">
                <a:solidFill>
                  <a:schemeClr val="tx1"/>
                </a:solidFill>
                <a:latin typeface="Times New Roman" panose="02020603050405020304" pitchFamily="18" charset="0"/>
                <a:cs typeface="Times New Roman" panose="02020603050405020304" pitchFamily="18" charset="0"/>
              </a:rPr>
              <a:t>Implementation</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BB7146-7D65-119D-2F1E-7A5249EF0427}"/>
              </a:ext>
            </a:extLst>
          </p:cNvPr>
          <p:cNvSpPr txBox="1"/>
          <p:nvPr/>
        </p:nvSpPr>
        <p:spPr>
          <a:xfrm>
            <a:off x="947058" y="1138632"/>
            <a:ext cx="6792685" cy="3002745"/>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backend implementation includes setting up an Express server, defining API routes, creating Mongoose schemas, and implementing CRUD operations. Authentication middleware is used to protect secure routes. The frontend implementation includes creating reusable components, setting up routing using React Router, and integrating APIs using HTTP requests.</a:t>
            </a:r>
          </a:p>
          <a:p>
            <a:pPr algn="just">
              <a:lnSpc>
                <a:spcPct val="150000"/>
              </a:lnSpc>
            </a:pPr>
            <a:r>
              <a:rPr lang="en-US" sz="1600" dirty="0">
                <a:latin typeface="Times New Roman" panose="02020603050405020304" pitchFamily="18" charset="0"/>
                <a:cs typeface="Times New Roman" panose="02020603050405020304" pitchFamily="18" charset="0"/>
              </a:rPr>
              <a:t>The project can be run locally by installing dependencies using </a:t>
            </a:r>
            <a:r>
              <a:rPr lang="en-US" sz="1600" dirty="0" err="1">
                <a:latin typeface="Times New Roman" panose="02020603050405020304" pitchFamily="18" charset="0"/>
                <a:cs typeface="Times New Roman" panose="02020603050405020304" pitchFamily="18" charset="0"/>
              </a:rPr>
              <a:t>npm</a:t>
            </a:r>
            <a:r>
              <a:rPr lang="en-US" sz="1600" dirty="0">
                <a:latin typeface="Times New Roman" panose="02020603050405020304" pitchFamily="18" charset="0"/>
                <a:cs typeface="Times New Roman" panose="02020603050405020304" pitchFamily="18" charset="0"/>
              </a:rPr>
              <a:t> and starting the development server.</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516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994584-3511-A173-8EF4-BD04605A2797}"/>
              </a:ext>
            </a:extLst>
          </p:cNvPr>
          <p:cNvSpPr txBox="1"/>
          <p:nvPr/>
        </p:nvSpPr>
        <p:spPr>
          <a:xfrm>
            <a:off x="808264" y="638047"/>
            <a:ext cx="4572000" cy="369332"/>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Output Screenshots</a:t>
            </a:r>
            <a:endParaRPr lang="en-IN" dirty="0"/>
          </a:p>
        </p:txBody>
      </p:sp>
      <p:pic>
        <p:nvPicPr>
          <p:cNvPr id="9" name="Picture 8">
            <a:extLst>
              <a:ext uri="{FF2B5EF4-FFF2-40B4-BE49-F238E27FC236}">
                <a16:creationId xmlns:a16="http://schemas.microsoft.com/office/drawing/2014/main" id="{668C33DE-F289-0B7D-B89A-7C0966575073}"/>
              </a:ext>
            </a:extLst>
          </p:cNvPr>
          <p:cNvPicPr>
            <a:picLocks noChangeAspect="1"/>
          </p:cNvPicPr>
          <p:nvPr/>
        </p:nvPicPr>
        <p:blipFill>
          <a:blip r:embed="rId2"/>
          <a:stretch>
            <a:fillRect/>
          </a:stretch>
        </p:blipFill>
        <p:spPr>
          <a:xfrm>
            <a:off x="1306286" y="1330779"/>
            <a:ext cx="6164036" cy="2865664"/>
          </a:xfrm>
          <a:prstGeom prst="rect">
            <a:avLst/>
          </a:prstGeom>
        </p:spPr>
      </p:pic>
    </p:spTree>
    <p:extLst>
      <p:ext uri="{BB962C8B-B14F-4D97-AF65-F5344CB8AC3E}">
        <p14:creationId xmlns:p14="http://schemas.microsoft.com/office/powerpoint/2010/main" val="2221186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3" name="Picture 2">
            <a:extLst>
              <a:ext uri="{FF2B5EF4-FFF2-40B4-BE49-F238E27FC236}">
                <a16:creationId xmlns:a16="http://schemas.microsoft.com/office/drawing/2014/main" id="{A1CD2370-FA91-CB3D-73EC-2A3348BC2D7B}"/>
              </a:ext>
            </a:extLst>
          </p:cNvPr>
          <p:cNvPicPr>
            <a:picLocks noChangeAspect="1"/>
          </p:cNvPicPr>
          <p:nvPr/>
        </p:nvPicPr>
        <p:blipFill>
          <a:blip r:embed="rId3"/>
          <a:stretch>
            <a:fillRect/>
          </a:stretch>
        </p:blipFill>
        <p:spPr>
          <a:xfrm>
            <a:off x="1118507" y="881744"/>
            <a:ext cx="6262007" cy="35024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8665D1-8F9D-569A-6F9A-F07AF71CC443}"/>
              </a:ext>
            </a:extLst>
          </p:cNvPr>
          <p:cNvSpPr>
            <a:spLocks noGrp="1"/>
          </p:cNvSpPr>
          <p:nvPr>
            <p:ph type="body" idx="1"/>
          </p:nvPr>
        </p:nvSpPr>
        <p:spPr>
          <a:xfrm>
            <a:off x="644978" y="1350899"/>
            <a:ext cx="6988628" cy="523220"/>
          </a:xfrm>
        </p:spPr>
        <p:txBody>
          <a:bodyPr/>
          <a:lstStyle/>
          <a:p>
            <a:r>
              <a:rPr lang="en-US" sz="1800" dirty="0">
                <a:solidFill>
                  <a:schemeClr val="tx1"/>
                </a:solidFill>
                <a:latin typeface="Times New Roman" panose="02020603050405020304" pitchFamily="18" charset="0"/>
                <a:cs typeface="Times New Roman" panose="02020603050405020304" pitchFamily="18" charset="0"/>
              </a:rPr>
              <a:t>Git hub Link:  </a:t>
            </a:r>
          </a:p>
          <a:p>
            <a:r>
              <a:rPr lang="en-US" sz="1600" b="0" dirty="0">
                <a:solidFill>
                  <a:schemeClr val="tx1"/>
                </a:solidFill>
                <a:latin typeface="Times New Roman" panose="02020603050405020304" pitchFamily="18" charset="0"/>
                <a:cs typeface="Times New Roman" panose="02020603050405020304" pitchFamily="18" charset="0"/>
                <a:hlinkClick r:id="rId2"/>
              </a:rPr>
              <a:t>https://github.com/MittanaBhagyalaxmi33/</a:t>
            </a:r>
            <a:r>
              <a:rPr lang="en-US" sz="1400" b="0" dirty="0">
                <a:solidFill>
                  <a:schemeClr val="tx1"/>
                </a:solidFill>
                <a:latin typeface="Times New Roman" panose="02020603050405020304" pitchFamily="18" charset="0"/>
                <a:cs typeface="Times New Roman" panose="02020603050405020304" pitchFamily="18" charset="0"/>
                <a:hlinkClick r:id="rId2"/>
              </a:rPr>
              <a:t>SHOPEZ-MERNSTACK-APPLICATION</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6F5B916-5043-56BB-E252-4F95C3366162}"/>
              </a:ext>
            </a:extLst>
          </p:cNvPr>
          <p:cNvSpPr txBox="1"/>
          <p:nvPr/>
        </p:nvSpPr>
        <p:spPr>
          <a:xfrm>
            <a:off x="783771" y="2187030"/>
            <a:ext cx="7372350" cy="615553"/>
          </a:xfrm>
          <a:prstGeom prst="rect">
            <a:avLst/>
          </a:prstGeom>
          <a:noFill/>
        </p:spPr>
        <p:txBody>
          <a:bodyPr wrap="square">
            <a:spAutoFit/>
          </a:bodyPr>
          <a:lstStyle/>
          <a:p>
            <a:r>
              <a:rPr lang="en-US" sz="1800" b="1" dirty="0">
                <a:solidFill>
                  <a:schemeClr val="tx1"/>
                </a:solidFill>
                <a:latin typeface="Times New Roman" panose="02020603050405020304" pitchFamily="18" charset="0"/>
                <a:cs typeface="Times New Roman" panose="02020603050405020304" pitchFamily="18" charset="0"/>
              </a:rPr>
              <a:t>Output Images Link: </a:t>
            </a:r>
            <a:r>
              <a:rPr lang="en-US" sz="1600" dirty="0">
                <a:solidFill>
                  <a:schemeClr val="tx1"/>
                </a:solidFill>
                <a:latin typeface="Times New Roman" panose="02020603050405020304" pitchFamily="18" charset="0"/>
                <a:cs typeface="Times New Roman" panose="02020603050405020304" pitchFamily="18" charset="0"/>
                <a:hlinkClick r:id="rId3"/>
              </a:rPr>
              <a:t>https://drive.google.com/drive/folders/1F9Lq25kfEIhlfxAMnnvmPrjbf9WLA0IY</a:t>
            </a:r>
            <a:endParaRPr lang="en-IN" sz="1600" b="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1D2B7F8-2BE2-6E35-E0FF-166D0F2F819E}"/>
              </a:ext>
            </a:extLst>
          </p:cNvPr>
          <p:cNvSpPr txBox="1"/>
          <p:nvPr/>
        </p:nvSpPr>
        <p:spPr>
          <a:xfrm>
            <a:off x="783771" y="3214758"/>
            <a:ext cx="6849835" cy="584775"/>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Demo Video Link : </a:t>
            </a:r>
            <a:r>
              <a:rPr lang="en-IN" dirty="0">
                <a:hlinkClick r:id="rId4"/>
              </a:rPr>
              <a:t>https://drive.google.com/file/d/1ZWb4TaZFDomJcUiQheRItbjN6GStwrW6/view</a:t>
            </a:r>
            <a:endParaRPr lang="en-IN" dirty="0"/>
          </a:p>
        </p:txBody>
      </p:sp>
    </p:spTree>
    <p:extLst>
      <p:ext uri="{BB962C8B-B14F-4D97-AF65-F5344CB8AC3E}">
        <p14:creationId xmlns:p14="http://schemas.microsoft.com/office/powerpoint/2010/main" val="2136591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7" name="TextBox 6">
            <a:extLst>
              <a:ext uri="{FF2B5EF4-FFF2-40B4-BE49-F238E27FC236}">
                <a16:creationId xmlns:a16="http://schemas.microsoft.com/office/drawing/2014/main" id="{7AEF928E-971F-E700-7216-D186D2640CA7}"/>
              </a:ext>
            </a:extLst>
          </p:cNvPr>
          <p:cNvSpPr txBox="1"/>
          <p:nvPr/>
        </p:nvSpPr>
        <p:spPr>
          <a:xfrm>
            <a:off x="718457" y="727855"/>
            <a:ext cx="4572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Conclusion and Future Scope</a:t>
            </a:r>
          </a:p>
        </p:txBody>
      </p:sp>
      <p:sp>
        <p:nvSpPr>
          <p:cNvPr id="8" name="TextBox 7">
            <a:extLst>
              <a:ext uri="{FF2B5EF4-FFF2-40B4-BE49-F238E27FC236}">
                <a16:creationId xmlns:a16="http://schemas.microsoft.com/office/drawing/2014/main" id="{A3C9920C-6970-2854-7DD2-A61B41DCA9F4}"/>
              </a:ext>
            </a:extLst>
          </p:cNvPr>
          <p:cNvSpPr txBox="1"/>
          <p:nvPr/>
        </p:nvSpPr>
        <p:spPr>
          <a:xfrm>
            <a:off x="849085" y="1249250"/>
            <a:ext cx="6711043" cy="3002745"/>
          </a:xfrm>
          <a:prstGeom prst="rect">
            <a:avLst/>
          </a:prstGeom>
          <a:noFill/>
        </p:spPr>
        <p:txBody>
          <a:bodyPr wrap="square">
            <a:spAutoFit/>
          </a:bodyPr>
          <a:lstStyle/>
          <a:p>
            <a:pPr algn="just">
              <a:lnSpc>
                <a:spcPct val="150000"/>
              </a:lnSpc>
              <a:buNone/>
            </a:pPr>
            <a:r>
              <a:rPr lang="en-US" sz="1600" dirty="0">
                <a:latin typeface="Times New Roman" panose="02020603050405020304" pitchFamily="18" charset="0"/>
                <a:cs typeface="Times New Roman" panose="02020603050405020304" pitchFamily="18" charset="0"/>
              </a:rPr>
              <a:t>In conclusion, </a:t>
            </a:r>
            <a:r>
              <a:rPr lang="en-US" sz="1600" dirty="0" err="1">
                <a:latin typeface="Times New Roman" panose="02020603050405020304" pitchFamily="18" charset="0"/>
                <a:cs typeface="Times New Roman" panose="02020603050405020304" pitchFamily="18" charset="0"/>
              </a:rPr>
              <a:t>ShopEZ</a:t>
            </a:r>
            <a:r>
              <a:rPr lang="en-US" sz="1600" dirty="0">
                <a:latin typeface="Times New Roman" panose="02020603050405020304" pitchFamily="18" charset="0"/>
                <a:cs typeface="Times New Roman" panose="02020603050405020304" pitchFamily="18" charset="0"/>
              </a:rPr>
              <a:t> successfully demonstrates the development of a full-stack e-commerce web application using the MERN stack. It integrates frontend, backend, and database technologies to provide a complete shopping experience. The project highlights practical implementation of authentication, CRUD operations, and API integration.</a:t>
            </a:r>
          </a:p>
          <a:p>
            <a:pPr algn="just">
              <a:lnSpc>
                <a:spcPct val="150000"/>
              </a:lnSpc>
              <a:buNone/>
            </a:pPr>
            <a:r>
              <a:rPr lang="en-US" sz="1600" dirty="0">
                <a:latin typeface="Times New Roman" panose="02020603050405020304" pitchFamily="18" charset="0"/>
                <a:cs typeface="Times New Roman" panose="02020603050405020304" pitchFamily="18" charset="0"/>
              </a:rPr>
              <a:t>In the future, the application can be enhanced by integrating online payment gateways, adding product reviews and ratings, implementing JWT-based authentication, and deploying the project on cloud platforms for public access.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816429" y="2110050"/>
            <a:ext cx="7649935" cy="92333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US" sz="6000" dirty="0">
                <a:solidFill>
                  <a:schemeClr val="tx1"/>
                </a:solidFill>
                <a:latin typeface="Times New Roman" panose="02020603050405020304" pitchFamily="18" charset="0"/>
                <a:cs typeface="Times New Roman" panose="02020603050405020304" pitchFamily="18" charset="0"/>
              </a:rPr>
              <a:t>THANK YOU</a:t>
            </a:r>
            <a:endParaRPr sz="6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925</Words>
  <Application>Microsoft Office PowerPoint</Application>
  <PresentationFormat>On-screen Show (16:9)</PresentationFormat>
  <Paragraphs>51</Paragraphs>
  <Slides>15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PowerPoint Presentation</vt:lpstr>
      <vt:lpstr>Contents</vt:lpstr>
      <vt:lpstr>Introduction</vt:lpstr>
      <vt:lpstr>Objective of the Project</vt:lpstr>
      <vt:lpstr>Technologies Used</vt:lpstr>
      <vt:lpstr>System Architecture</vt:lpstr>
      <vt:lpstr>Database Design</vt:lpstr>
      <vt:lpstr>Key Features</vt:lpstr>
      <vt:lpstr>Application Flow</vt:lpstr>
      <vt:lpstr>Implementation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Gowthami</dc:creator>
  <cp:lastModifiedBy>Dola Gowthami</cp:lastModifiedBy>
  <cp:revision>6</cp:revision>
  <dcterms:modified xsi:type="dcterms:W3CDTF">2026-02-14T06:22:21Z</dcterms:modified>
</cp:coreProperties>
</file>